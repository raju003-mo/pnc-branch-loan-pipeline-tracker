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Consolas" panose="020B0609020204030204" pitchFamily="49" charset="0"/>
      <p:regular r:id="rId10"/>
      <p:bold r:id="rId11"/>
      <p:italic r:id="rId12"/>
      <p:boldItalic r:id="rId13"/>
    </p:embeddedFont>
    <p:embeddedFont>
      <p:font typeface="Open Sans" panose="020B060603050402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1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6179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3418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PNC Branch Loan Pipeline Tracker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79190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CRUD + analytics tool that helps PNC branch staff keep loan applications moving and spotlights top-performing officers each week.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4780478"/>
            <a:ext cx="1210032" cy="426244"/>
          </a:xfrm>
          <a:prstGeom prst="roundRect">
            <a:avLst>
              <a:gd name="adj" fmla="val 17880"/>
            </a:avLst>
          </a:prstGeom>
          <a:solidFill>
            <a:srgbClr val="EBE2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16278" y="4848463"/>
            <a:ext cx="93785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603569" y="4772858"/>
            <a:ext cx="4057720" cy="42624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835E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47278" y="4848463"/>
            <a:ext cx="328457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0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https://endalk.com/demo/PNCloan/index.php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80190" y="546949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Team: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[</a:t>
            </a: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Endalkachew Kassa Lake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] — DB/SQL · [</a:t>
            </a: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Akhil Kumar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] — PHP/Frontend · [</a:t>
            </a: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Krishraj Raju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] — QA/Docs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16506"/>
            <a:ext cx="5493425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Top 5 Skills Gained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769025" y="1728787"/>
            <a:ext cx="4222194" cy="3181826"/>
          </a:xfrm>
          <a:prstGeom prst="roundRect">
            <a:avLst>
              <a:gd name="adj" fmla="val 2901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96315" y="1956078"/>
            <a:ext cx="659130" cy="659130"/>
          </a:xfrm>
          <a:prstGeom prst="roundRect">
            <a:avLst>
              <a:gd name="adj" fmla="val 13871445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7528" y="2137291"/>
            <a:ext cx="296585" cy="2965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6315" y="2827972"/>
            <a:ext cx="2837617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ERD → DDL Translation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996315" y="3298865"/>
            <a:ext cx="3767614" cy="1384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Designed 1:M relationships with foreign key constraints, then translated directly to CREATE TABLE scripts.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203984" y="1728787"/>
            <a:ext cx="4222313" cy="3181826"/>
          </a:xfrm>
          <a:prstGeom prst="roundRect">
            <a:avLst>
              <a:gd name="adj" fmla="val 2901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31274" y="1956078"/>
            <a:ext cx="659130" cy="659130"/>
          </a:xfrm>
          <a:prstGeom prst="roundRect">
            <a:avLst>
              <a:gd name="adj" fmla="val 13871445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12487" y="2137291"/>
            <a:ext cx="296585" cy="29658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31274" y="2827972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PHP CRUD with PDO</a:t>
            </a:r>
            <a:endParaRPr lang="en-US" sz="2150" dirty="0"/>
          </a:p>
        </p:txBody>
      </p:sp>
      <p:sp>
        <p:nvSpPr>
          <p:cNvPr id="12" name="Text 8"/>
          <p:cNvSpPr/>
          <p:nvPr/>
        </p:nvSpPr>
        <p:spPr>
          <a:xfrm>
            <a:off x="5431274" y="3298865"/>
            <a:ext cx="3767733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full Create, Read, Update, Delete patterns using PDO prepared statements throughout.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9639062" y="1728787"/>
            <a:ext cx="4222313" cy="3181826"/>
          </a:xfrm>
          <a:prstGeom prst="roundRect">
            <a:avLst>
              <a:gd name="adj" fmla="val 2901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9866352" y="1956078"/>
            <a:ext cx="659130" cy="659130"/>
          </a:xfrm>
          <a:prstGeom prst="roundRect">
            <a:avLst>
              <a:gd name="adj" fmla="val 13871445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47565" y="2137291"/>
            <a:ext cx="296585" cy="29658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352" y="2827972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SQL Analytics Queries</a:t>
            </a:r>
            <a:endParaRPr lang="en-US" sz="2150" dirty="0"/>
          </a:p>
        </p:txBody>
      </p:sp>
      <p:sp>
        <p:nvSpPr>
          <p:cNvPr id="17" name="Text 12"/>
          <p:cNvSpPr/>
          <p:nvPr/>
        </p:nvSpPr>
        <p:spPr>
          <a:xfrm>
            <a:off x="9866352" y="3298865"/>
            <a:ext cx="3767733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Used JOIN + GROUP BY to power the Top 5 Officers report with real aggregation logic.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769025" y="5123378"/>
            <a:ext cx="6439733" cy="2489597"/>
          </a:xfrm>
          <a:prstGeom prst="roundRect">
            <a:avLst>
              <a:gd name="adj" fmla="val 370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996315" y="5350669"/>
            <a:ext cx="659130" cy="659130"/>
          </a:xfrm>
          <a:prstGeom prst="roundRect">
            <a:avLst>
              <a:gd name="adj" fmla="val 13871445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7528" y="5531882"/>
            <a:ext cx="296585" cy="29658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96315" y="6222563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Security Hygiene</a:t>
            </a:r>
            <a:endParaRPr lang="en-US" sz="2150" dirty="0"/>
          </a:p>
        </p:txBody>
      </p:sp>
      <p:sp>
        <p:nvSpPr>
          <p:cNvPr id="22" name="Text 16"/>
          <p:cNvSpPr/>
          <p:nvPr/>
        </p:nvSpPr>
        <p:spPr>
          <a:xfrm>
            <a:off x="996315" y="6693456"/>
            <a:ext cx="5985153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Server-side validation and parameterized queries eliminate SQL injection risk at every entry point.</a:t>
            </a:r>
            <a:endParaRPr lang="en-US" sz="1700" dirty="0"/>
          </a:p>
        </p:txBody>
      </p:sp>
      <p:sp>
        <p:nvSpPr>
          <p:cNvPr id="23" name="Shape 17"/>
          <p:cNvSpPr/>
          <p:nvPr/>
        </p:nvSpPr>
        <p:spPr>
          <a:xfrm>
            <a:off x="7421523" y="5123378"/>
            <a:ext cx="6439853" cy="2489597"/>
          </a:xfrm>
          <a:prstGeom prst="roundRect">
            <a:avLst>
              <a:gd name="adj" fmla="val 370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648813" y="5350669"/>
            <a:ext cx="659130" cy="659130"/>
          </a:xfrm>
          <a:prstGeom prst="roundRect">
            <a:avLst>
              <a:gd name="adj" fmla="val 13871445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30026" y="5531882"/>
            <a:ext cx="296585" cy="29658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48813" y="6222563"/>
            <a:ext cx="292691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AI-Assisted Development</a:t>
            </a:r>
            <a:endParaRPr lang="en-US" sz="2150" dirty="0"/>
          </a:p>
        </p:txBody>
      </p:sp>
      <p:sp>
        <p:nvSpPr>
          <p:cNvPr id="27" name="Text 20"/>
          <p:cNvSpPr/>
          <p:nvPr/>
        </p:nvSpPr>
        <p:spPr>
          <a:xfrm>
            <a:off x="7648813" y="6693456"/>
            <a:ext cx="5985272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Prompt engineering for code generation — with disciplined human review before every commit.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7707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Lessons Learned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426018"/>
            <a:ext cx="6571417" cy="4426387"/>
          </a:xfrm>
          <a:prstGeom prst="roundRect">
            <a:avLst>
              <a:gd name="adj" fmla="val 3690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7250" y="2652832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✅</a:t>
            </a:r>
            <a:r>
              <a:rPr lang="en-US" sz="22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What Worked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241596"/>
            <a:ext cx="61177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Building the ERD first made the DDL and CRUD logic almost write themselves. A clean schema upfront saved hours of refactoring later.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2652832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⚠️</a:t>
            </a: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What Didn't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3241596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first Top 5 query used a LEFT JOIN and returned officers with zero approvals. Fixed it with INNER JOIN and a HAVING clause to filter correctly.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599521" y="4642128"/>
            <a:ext cx="6244709" cy="16907"/>
          </a:xfrm>
          <a:prstGeom prst="rect">
            <a:avLst/>
          </a:prstGeom>
          <a:solidFill>
            <a:srgbClr val="44372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99521" y="4970859"/>
            <a:ext cx="35217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🔁</a:t>
            </a: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What We'd Do Differently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5559623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Seed realistic data on day one. We caught edge cases — empty weeks, tied officer rankings — far too late in the process.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66123"/>
            <a:ext cx="79188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SQL Behind the Top 5 Report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418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JOIN Query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3251359"/>
            <a:ext cx="6924437" cy="3356848"/>
          </a:xfrm>
          <a:prstGeom prst="roundRect">
            <a:avLst>
              <a:gd name="adj" fmla="val 2838"/>
            </a:avLst>
          </a:prstGeom>
          <a:solidFill>
            <a:srgbClr val="F2EF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2479" y="3251359"/>
            <a:ext cx="6947059" cy="3356848"/>
          </a:xfrm>
          <a:prstGeom prst="roundRect">
            <a:avLst>
              <a:gd name="adj" fmla="val 1014"/>
            </a:avLst>
          </a:prstGeom>
          <a:solidFill>
            <a:srgbClr val="F2EF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65967" y="3478173"/>
            <a:ext cx="6380083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o.name, COUNT(a.app_id) AS approvals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loan_officers o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loan_applications a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ON o.officer_id = a.officer_id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 a.status = 'Approved'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o.officer_id, o.name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approvals DESC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LIMIT 5;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279249" y="26418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Why INNER JOIN?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79249" y="3223022"/>
            <a:ext cx="556486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LEFT JOIN included officers with zero approvals — inflating the leaderboard. INNER JOIN + HAVING ensures only officers with actual approved loans appear.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279249" y="4929783"/>
            <a:ext cx="5564862" cy="1326713"/>
          </a:xfrm>
          <a:prstGeom prst="roundRect">
            <a:avLst>
              <a:gd name="adj" fmla="val 7181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6063" y="5281493"/>
            <a:ext cx="283488" cy="22681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016365" y="5213271"/>
            <a:ext cx="460093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GROUP BY aggregates per officer; ORDER BY + LIMIT surfaces the true top 5.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637461"/>
            <a:ext cx="8648224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Security by Design: Prepared Statements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6993" y="1718429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Officer Insert Snippet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06993" y="2236470"/>
            <a:ext cx="6361748" cy="3764518"/>
          </a:xfrm>
          <a:prstGeom prst="roundRect">
            <a:avLst>
              <a:gd name="adj" fmla="val 2254"/>
            </a:avLst>
          </a:prstGeom>
          <a:solidFill>
            <a:srgbClr val="F2EF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6992" y="2236470"/>
            <a:ext cx="6381750" cy="3764518"/>
          </a:xfrm>
          <a:prstGeom prst="roundRect">
            <a:avLst>
              <a:gd name="adj" fmla="val 805"/>
            </a:avLst>
          </a:prstGeom>
          <a:solidFill>
            <a:srgbClr val="F2EF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49404" y="2438400"/>
            <a:ext cx="5876925" cy="3360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005CC5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$stmt = $pdo-&gt;prepare(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005CC5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"INSERT INTO loan_officers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005CC5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(employee_id, name, phone, status)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005CC5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VALUES (:employee_id, :name, :phone, :status)"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005CC5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005CC5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$stmt-&gt;execute([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005CC5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':employee_id' =&gt; $emp_id,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005CC5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':name'        =&gt; $name,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005CC5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':phone'       =&gt; $phone,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005CC5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':status'      =&gt; $status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005CC5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9279" y="1718429"/>
            <a:ext cx="27156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Why Placeholders Matter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569279" y="2213967"/>
            <a:ext cx="6361748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Named placeholders (</a:t>
            </a:r>
            <a:r>
              <a:rPr lang="en-US" sz="155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:employee_id</a:t>
            </a: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55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:name</a:t>
            </a: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 separate SQL code from user data. The database treats all input as </a:t>
            </a:r>
            <a:r>
              <a:rPr lang="en-US" sz="155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values</a:t>
            </a: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never as executable commands — neutralizing SQL injection at the root.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06993" y="6405801"/>
            <a:ext cx="6518196" cy="1186220"/>
          </a:xfrm>
          <a:prstGeom prst="roundRect">
            <a:avLst>
              <a:gd name="adj" fmla="val 7153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31783" y="6630591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Tables Involved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31783" y="7054096"/>
            <a:ext cx="6068616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loan_applications</a:t>
            </a: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↔</a:t>
            </a: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55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loan_officers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405092" y="6405801"/>
            <a:ext cx="6518315" cy="1186220"/>
          </a:xfrm>
          <a:prstGeom prst="roundRect">
            <a:avLst>
              <a:gd name="adj" fmla="val 7153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29882" y="6630591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Join Key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629882" y="7054096"/>
            <a:ext cx="6068735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officer_id</a:t>
            </a: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foreign key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80292"/>
            <a:ext cx="694324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Dream Role → Skill Mapping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426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this project maps to a PNC Data Analyst or Financial Analyst job posting.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160752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3310" y="3160752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2524" y="34180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"SQL for Analytics"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3908465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Top 5 Officers GROUP BY query with JOIN aggregation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160752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86482" y="3160752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65696" y="34180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"Database Design"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65696" y="3908465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ERD and CREATE TABLE scripts with referential integrity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160752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609653" y="3160752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988868" y="3418046"/>
            <a:ext cx="30116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"Stakeholder Reporting"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988868" y="3908465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Two business-report specs built for branch managers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118378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63310" y="5118378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42524" y="53756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"Data Validation"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42524" y="5866090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Server-side validation layer on all CRUD inputs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5216962" y="5118378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186482" y="5118378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65696" y="5375672"/>
            <a:ext cx="31511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"Secure Coding Practices"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65696" y="5866090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PDO prepared statements throughout the entire app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228" y="959287"/>
            <a:ext cx="5202317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What We'd Improve Next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28" y="2007989"/>
            <a:ext cx="8456414" cy="50738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621798" y="2097048"/>
            <a:ext cx="438507" cy="438507"/>
          </a:xfrm>
          <a:prstGeom prst="roundRect">
            <a:avLst>
              <a:gd name="adj" fmla="val 1867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694843" y="2133540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0227707" y="2163961"/>
            <a:ext cx="2778443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Role-Based Authentication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227707" y="2635925"/>
            <a:ext cx="3727966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Separate views for Coordinators (data entry) vs. Managers (reports + overrides), enforced at the session level.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621798" y="3840599"/>
            <a:ext cx="438507" cy="438507"/>
          </a:xfrm>
          <a:prstGeom prst="roundRect">
            <a:avLst>
              <a:gd name="adj" fmla="val 1867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694843" y="3877092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10227707" y="3907512"/>
            <a:ext cx="3281363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Pagination + Server-Side Search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227707" y="4379476"/>
            <a:ext cx="3727966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Both CRUD list views will need LIMIT/OFFSET pagination and filtered queries once real branch data scales up.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9621798" y="5584150"/>
            <a:ext cx="438507" cy="438507"/>
          </a:xfrm>
          <a:prstGeom prst="roundRect">
            <a:avLst>
              <a:gd name="adj" fmla="val 1867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694843" y="5620643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10227707" y="5651063"/>
            <a:ext cx="2550081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Automated Data Seeding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0227707" y="6123027"/>
            <a:ext cx="3727966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seed script with realistic loan scenarios would catch edge cases — empty weeks, tied rankings — from day one.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700</Words>
  <Application>Microsoft Office PowerPoint</Application>
  <PresentationFormat>Custom</PresentationFormat>
  <Paragraphs>84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Open Sans</vt:lpstr>
      <vt:lpstr>Consolas</vt:lpstr>
      <vt:lpstr>Arial</vt:lpstr>
      <vt:lpstr>Crimson Pro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Lake, Endalkachew Kassa</cp:lastModifiedBy>
  <cp:revision>4</cp:revision>
  <dcterms:created xsi:type="dcterms:W3CDTF">2026-04-29T18:52:56Z</dcterms:created>
  <dcterms:modified xsi:type="dcterms:W3CDTF">2026-04-29T21:11:54Z</dcterms:modified>
</cp:coreProperties>
</file>